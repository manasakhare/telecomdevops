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</p:spTree>
  </p:cSld>
  <p:clrMapOvr>
    <a:masterClrMap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Ansible-Provisioned Telecom Service Outage Dashboard</a:t>
            </a:r>
          </a:p>
          <a:p>
            <a:r>
              <a:rPr lang="en-US" sz="1600">
                <a:solidFill>
                  <a:srgbClr val="94A3B8"/>
                </a:solidFill>
              </a:rPr>
              <a:t>PROJECT PRESENTATION • BE DEVOPS CAPSTONE — Enterprise-Grade Continuous Delivery, Automated Testing &amp; Infrastructure-as-Code Pipeline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Candidate</a:t>
            </a:r>
          </a:p>
          <a:p>
            <a:r>
              <a:rPr lang="en-US" sz="2800" b="1">
                <a:solidFill>
                  <a:srgbClr val="10B981"/>
                </a:solidFill>
              </a:rPr>
              <a:t>Manas Akhare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Roll No: 23102C0017
BE - VII (Div C, Sr. No. 12)
Department of Information Technology / Computer Engineering</a:t>
            </a:r>
          </a:p>
        </p:txBody>
      </p:sp>
      <p:sp>
        <p:nvSpPr>
          <p:cNvPr id="12" name="CardBg1"/>
          <p:cNvSpPr/>
          <p:nvPr/>
        </p:nvSpPr>
        <p:spPr>
          <a:xfrm>
            <a:off x="4264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4414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Architecture</a:t>
            </a:r>
          </a:p>
          <a:p>
            <a:r>
              <a:rPr lang="en-US" sz="2800" b="1">
                <a:solidFill>
                  <a:srgbClr val="10B981"/>
                </a:solidFill>
              </a:rPr>
              <a:t>Spring Boot 3.2.5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H2 In-Memory DB
Java 17 LTS
Thymeleaf + REST API</a:t>
            </a:r>
          </a:p>
        </p:txBody>
      </p:sp>
      <p:sp>
        <p:nvSpPr>
          <p:cNvPr id="14" name="CardBg2"/>
          <p:cNvSpPr/>
          <p:nvPr/>
        </p:nvSpPr>
        <p:spPr>
          <a:xfrm>
            <a:off x="7928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8078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Automation</a:t>
            </a:r>
          </a:p>
          <a:p>
            <a:r>
              <a:rPr lang="en-US" sz="2800" b="1">
                <a:solidFill>
                  <a:srgbClr val="10B981"/>
                </a:solidFill>
              </a:rPr>
              <a:t>100% CI / IaC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15/15 Automated Tests OK
Jenkinsfile 7-Stage Pipeline
Ansible Idempotent Roles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1 of 14</a:t>
            </a:r>
          </a:p>
        </p:txBody>
      </p:sp>
    </p:spTree>
  </p:cSld>
  <p:clrMapOvr>
    <a:masterClrMap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Mitigating Critical Downtime in Telecom Services</a:t>
            </a:r>
          </a:p>
          <a:p>
            <a:r>
              <a:rPr lang="en-US" sz="1600">
                <a:solidFill>
                  <a:srgbClr val="94A3B8"/>
                </a:solidFill>
              </a:rPr>
              <a:t>PROBLEM STATEMENT &amp; INDUSTRY MOTIVATION — Bridging Development and Operations for High-Availability Incident Response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Catastrophic Cost of Outages</a:t>
            </a:r>
          </a:p>
          <a:p>
            <a:r>
              <a:rPr lang="en-US" sz="2800" b="1">
                <a:solidFill>
                  <a:srgbClr val="10B981"/>
                </a:solidFill>
              </a:rPr>
              <a:t>$10k - $50k / min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[FINANCIAL &amp; SLA IMPACT]
Cellular and fiber network outages result in heavy regulatory fines (TRAI/DoT), brand erosion, and SLA breach penalties. Rapid detection and remediation are non-negotiable.</a:t>
            </a:r>
          </a:p>
        </p:txBody>
      </p:sp>
      <p:sp>
        <p:nvSpPr>
          <p:cNvPr id="12" name="CardBg1"/>
          <p:cNvSpPr/>
          <p:nvPr/>
        </p:nvSpPr>
        <p:spPr>
          <a:xfrm>
            <a:off x="4264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4414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Manual Drift &amp; Siloed Ops</a:t>
            </a:r>
          </a:p>
          <a:p>
            <a:r>
              <a:rPr lang="en-US" sz="2800" b="1">
                <a:solidFill>
                  <a:srgbClr val="10B981"/>
                </a:solidFill>
              </a:rPr>
              <a:t>60+ Mins MTTR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[TRADITIONAL BOTTLENECKS]
Disjointed spreadsheets, manual server SSH configurations, undocumented environment drift, and quarterly monolithic drops create operational fragility.</a:t>
            </a:r>
          </a:p>
        </p:txBody>
      </p:sp>
      <p:sp>
        <p:nvSpPr>
          <p:cNvPr id="14" name="CardBg2"/>
          <p:cNvSpPr/>
          <p:nvPr/>
        </p:nvSpPr>
        <p:spPr>
          <a:xfrm>
            <a:off x="7928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8078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Continuous Delivery &amp; IaC</a:t>
            </a:r>
          </a:p>
          <a:p>
            <a:r>
              <a:rPr lang="en-US" sz="2800" b="1">
                <a:solidFill>
                  <a:srgbClr val="10B981"/>
                </a:solidFill>
              </a:rPr>
              <a:t>&lt; 15 Mins MTTR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[THE DEVOPS REMEDY]
Automated pipelines, multi-layer test pyramids, containerized runtime parity, and idempotent Ansible automation ensure reliable, repeatable releases.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2 of 14</a:t>
            </a:r>
          </a:p>
        </p:txBody>
      </p:sp>
    </p:spTree>
  </p:cSld>
  <p:clrMapOvr>
    <a:masterClrMap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Cloud-Native Three-Tier Architecture</a:t>
            </a:r>
          </a:p>
          <a:p>
            <a:r>
              <a:rPr lang="en-US" sz="1600">
                <a:solidFill>
                  <a:srgbClr val="94A3B8"/>
                </a:solidFill>
              </a:rPr>
              <a:t>SYSTEM ARCHITECTURE &amp; TECH STACK — Modular Spring Boot Platform Engineered for Observability and Zero Drift</a:t>
            </a:r>
          </a:p>
        </p:txBody>
      </p:sp>
      <p:sp>
        <p:nvSpPr>
          <p:cNvPr id="20" name="BulletsCard"/>
          <p:cNvSpPr/>
          <p:nvPr/>
        </p:nvSpPr>
        <p:spPr>
          <a:xfrm>
            <a:off x="600000" y="1900000"/>
            <a:ext cx="10992000" cy="42000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334155"/>
            </a:solidFill>
          </a:ln>
        </p:spPr>
      </p:sp>
      <p:sp>
        <p:nvSpPr>
          <p:cNvPr id="21" name="BulletsContent"/>
          <p:cNvSpPr/>
          <p:nvPr/>
        </p:nvSpPr>
        <p:spPr>
          <a:xfrm>
            <a:off x="900000" y="2100000"/>
            <a:ext cx="10392000" cy="3800000"/>
          </a:xfrm>
          <a:prstGeom prst="rect">
            <a:avLst/>
          </a:prstGeom>
          <a:noFill/>
        </p:spPr>
        <p:txBody>
          <a:bodyPr/>
          <a:lstStyle/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Modular Spring Boot Platform Engineered for Observability and Zero Drift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3 of 14</a:t>
            </a:r>
          </a:p>
        </p:txBody>
      </p:sp>
    </p:spTree>
  </p:cSld>
  <p:clrMapOvr>
    <a:masterClrMap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Interactive Outage Telemetry &amp; Operations Dashboard</a:t>
            </a:r>
          </a:p>
          <a:p>
            <a:r>
              <a:rPr lang="en-US" sz="1600">
                <a:solidFill>
                  <a:srgbClr val="94A3B8"/>
                </a:solidFill>
              </a:rPr>
              <a:t>APPLICATION CAPABILITIES — Real-Time Health Monitoring, SLA Tracking, and Incident Drill-Downs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Real-Time Outage Feed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Visualizes active incidents across Voice, Fiber Broadband, 4G/5G, and IPTV with clear severity badges (CRITICAL, MAJOR, MINOR).</a:t>
            </a:r>
          </a:p>
        </p:txBody>
      </p:sp>
      <p:sp>
        <p:nvSpPr>
          <p:cNvPr id="12" name="CardBg1"/>
          <p:cNvSpPr/>
          <p:nvPr/>
        </p:nvSpPr>
        <p:spPr>
          <a:xfrm>
            <a:off x="3348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3498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Dynamic SLA Countdown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Tracks remaining time before SLA breach (e.g. 2-hr target for CRITICAL), changing color dynamically as breach threshold approaches.</a:t>
            </a:r>
          </a:p>
        </p:txBody>
      </p:sp>
      <p:sp>
        <p:nvSpPr>
          <p:cNvPr id="14" name="CardBg2"/>
          <p:cNvSpPr/>
          <p:nvPr/>
        </p:nvSpPr>
        <p:spPr>
          <a:xfrm>
            <a:off x="6096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6246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Root Cause Drill-Down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One-click inspection modal displaying impacted cell towers, fiber cuts, affected subscriber counts, and technician assignment.</a:t>
            </a:r>
          </a:p>
        </p:txBody>
      </p:sp>
      <p:sp>
        <p:nvSpPr>
          <p:cNvPr id="16" name="CardBg3"/>
          <p:cNvSpPr/>
          <p:nvPr/>
        </p:nvSpPr>
        <p:spPr>
          <a:xfrm>
            <a:off x="8844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7" name="CardTxt3"/>
          <p:cNvSpPr/>
          <p:nvPr/>
        </p:nvSpPr>
        <p:spPr>
          <a:xfrm>
            <a:off x="8994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RESTful Health APIs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Provides `/api/health` returning JSON `{"status":"UP"}` and `/api/outages` for programmatic ingestion by upstream monitoring tools.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4 of 14</a:t>
            </a:r>
          </a:p>
        </p:txBody>
      </p:sp>
    </p:spTree>
  </p:cSld>
  <p:clrMapOvr>
    <a:masterClrMap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Multi-Layer Testing Pyramid: 15 / 15 Passing</a:t>
            </a:r>
          </a:p>
          <a:p>
            <a:r>
              <a:rPr lang="en-US" sz="1600">
                <a:solidFill>
                  <a:srgbClr val="94A3B8"/>
                </a:solidFill>
              </a:rPr>
              <a:t>AUTOMATED QUALITY GATES — Fail-Fast CI Verification Across Unit, API Integration, and End-to-End Journeys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E2E User Journeys (Selenium WebDriver)</a:t>
            </a:r>
          </a:p>
          <a:p>
            <a:r>
              <a:rPr lang="en-US" sz="2800" b="1">
                <a:solidFill>
                  <a:srgbClr val="10B981"/>
                </a:solidFill>
              </a:rPr>
              <a:t>4 Tests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Automated headless Chrome execution validating Dashboard UI, Filter Tabs, New Outage Reporting form submission, and Drill-down Modals.</a:t>
            </a:r>
          </a:p>
        </p:txBody>
      </p:sp>
      <p:sp>
        <p:nvSpPr>
          <p:cNvPr id="12" name="CardBg1"/>
          <p:cNvSpPr/>
          <p:nvPr/>
        </p:nvSpPr>
        <p:spPr>
          <a:xfrm>
            <a:off x="4264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4414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API Integration Tests (Spring MockMvc)</a:t>
            </a:r>
          </a:p>
          <a:p>
            <a:r>
              <a:rPr lang="en-US" sz="2800" b="1">
                <a:solidFill>
                  <a:srgbClr val="10B981"/>
                </a:solidFill>
              </a:rPr>
              <a:t>5 Tests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Validates HTTP 200/201 responses, JSON payload serialization, SLA calculations, and REST API error boundaries.</a:t>
            </a:r>
          </a:p>
        </p:txBody>
      </p:sp>
      <p:sp>
        <p:nvSpPr>
          <p:cNvPr id="14" name="CardBg2"/>
          <p:cNvSpPr/>
          <p:nvPr/>
        </p:nvSpPr>
        <p:spPr>
          <a:xfrm>
            <a:off x="7928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8078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Unit &amp; Service Tests (JUnit 5 + Mockito)</a:t>
            </a:r>
          </a:p>
          <a:p>
            <a:r>
              <a:rPr lang="en-US" sz="2800" b="1">
                <a:solidFill>
                  <a:srgbClr val="10B981"/>
                </a:solidFill>
              </a:rPr>
              <a:t>6 Tests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Isolated test execution for OutageService CRUD logic, SLA countdown boundaries, and state transitions (RESOLVED vs INVESTIGATING).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5 of 14</a:t>
            </a:r>
          </a:p>
        </p:txBody>
      </p:sp>
    </p:spTree>
  </p:cSld>
  <p:clrMapOvr>
    <a:masterClrMap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Robust Git Flow &amp; Merge Conflict Resolution</a:t>
            </a:r>
          </a:p>
          <a:p>
            <a:r>
              <a:rPr lang="en-US" sz="1600">
                <a:solidFill>
                  <a:srgbClr val="94A3B8"/>
                </a:solidFill>
              </a:rPr>
              <a:t>VERSION CONTROL &amp; COLLABORATION — Branching Hygiene, Conventional Commits, and Production Tagging</a:t>
            </a:r>
          </a:p>
        </p:txBody>
      </p:sp>
      <p:sp>
        <p:nvSpPr>
          <p:cNvPr id="20" name="BulletsCard"/>
          <p:cNvSpPr/>
          <p:nvPr/>
        </p:nvSpPr>
        <p:spPr>
          <a:xfrm>
            <a:off x="600000" y="1900000"/>
            <a:ext cx="10992000" cy="42000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334155"/>
            </a:solidFill>
          </a:ln>
        </p:spPr>
      </p:sp>
      <p:sp>
        <p:nvSpPr>
          <p:cNvPr id="21" name="BulletsContent"/>
          <p:cNvSpPr/>
          <p:nvPr/>
        </p:nvSpPr>
        <p:spPr>
          <a:xfrm>
            <a:off x="900000" y="2100000"/>
            <a:ext cx="10392000" cy="3800000"/>
          </a:xfrm>
          <a:prstGeom prst="rect">
            <a:avLst/>
          </a:prstGeom>
          <a:noFill/>
        </p:spPr>
        <p:txBody>
          <a:bodyPr/>
          <a:lstStyle/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Branch: main — Production-ready, highly stable releases (tagged v1.0.0-mvp, v1.0.0)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Branch: develop — Active integration branch where feature branches converge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Branch: feature/outage-reporting — Engineered incident intake form and validation logic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Branch: feature/alert-management — Implemented threshold-based alerting &amp; SLA warning banners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Merge Conflict Resolution: Simulated &amp; Resolved Merge Conflict — Concurrent modifications in alert notification logic between `feature/outage-reporting` and `feature/alert-management` were resolved cleanly on `develop` with verified commit log integrity.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6 of 14</a:t>
            </a:r>
          </a:p>
        </p:txBody>
      </p:sp>
    </p:spTree>
  </p:cSld>
  <p:clrMapOvr>
    <a:masterClrMap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Declarative CI Pipeline with Jenkins</a:t>
            </a:r>
          </a:p>
          <a:p>
            <a:r>
              <a:rPr lang="en-US" sz="1600">
                <a:solidFill>
                  <a:srgbClr val="94A3B8"/>
                </a:solidFill>
              </a:rPr>
              <a:t>CONTINUOUS INTEGRATION — Pipeline-as-Code Implementation Delivering Immutable Deployment Artifacts</a:t>
            </a:r>
          </a:p>
        </p:txBody>
      </p:sp>
      <p:sp>
        <p:nvSpPr>
          <p:cNvPr id="20" name="BulletsCard"/>
          <p:cNvSpPr/>
          <p:nvPr/>
        </p:nvSpPr>
        <p:spPr>
          <a:xfrm>
            <a:off x="600000" y="1900000"/>
            <a:ext cx="10992000" cy="42000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334155"/>
            </a:solidFill>
          </a:ln>
        </p:spPr>
      </p:sp>
      <p:sp>
        <p:nvSpPr>
          <p:cNvPr id="21" name="BulletsContent"/>
          <p:cNvSpPr/>
          <p:nvPr/>
        </p:nvSpPr>
        <p:spPr>
          <a:xfrm>
            <a:off x="900000" y="2100000"/>
            <a:ext cx="10392000" cy="3800000"/>
          </a:xfrm>
          <a:prstGeom prst="rect">
            <a:avLst/>
          </a:prstGeom>
          <a:noFill/>
        </p:spPr>
        <p:txBody>
          <a:bodyPr/>
          <a:lstStyle/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Stage 1: Checkout — Pulls latest commit from Git repository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Stage 2: Compile — Compiles Java 17 bytecode with Maven 3.9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Stage 3: Unit Tests — Runs 6 JUnit 5 isolated service tests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Stage 4: API Tests — Executes 5 MockMvc integration tests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Stage 5: E2E Tests — Launches 4 Headless Selenium Chrome journeys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Stage 6: Package JAR — Generates 25.4 MB self-contained executable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Stage 7: Archive — Stores build artifact with SHA-256 fingerprint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7 of 14</a:t>
            </a:r>
          </a:p>
        </p:txBody>
      </p:sp>
    </p:spTree>
  </p:cSld>
  <p:clrMapOvr>
    <a:masterClrMap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Docker Multi-Stage Build &amp; Lightweight Packaging</a:t>
            </a:r>
          </a:p>
          <a:p>
            <a:r>
              <a:rPr lang="en-US" sz="1600">
                <a:solidFill>
                  <a:srgbClr val="94A3B8"/>
                </a:solidFill>
              </a:rPr>
              <a:t>CONTAINERIZATION — Slashing Attack Surface and Image Footprint for Consistent Runtime Parity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Original SDK Image</a:t>
            </a:r>
          </a:p>
          <a:p>
            <a:r>
              <a:rPr lang="en-US" sz="2800" b="1">
                <a:solidFill>
                  <a:srgbClr val="10B981"/>
                </a:solidFill>
              </a:rPr>
              <a:t>~820 MB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Bulky &amp; High Vulnerability Risk</a:t>
            </a:r>
          </a:p>
        </p:txBody>
      </p:sp>
      <p:sp>
        <p:nvSpPr>
          <p:cNvPr id="12" name="CardBg1"/>
          <p:cNvSpPr/>
          <p:nvPr/>
        </p:nvSpPr>
        <p:spPr>
          <a:xfrm>
            <a:off x="4264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4414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Optimized JRE Alpine</a:t>
            </a:r>
          </a:p>
          <a:p>
            <a:r>
              <a:rPr lang="en-US" sz="2800" b="1">
                <a:solidFill>
                  <a:srgbClr val="10B981"/>
                </a:solidFill>
              </a:rPr>
              <a:t>~185 MB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77% Size Reduction</a:t>
            </a:r>
          </a:p>
        </p:txBody>
      </p:sp>
      <p:sp>
        <p:nvSpPr>
          <p:cNvPr id="14" name="CardBg2"/>
          <p:cNvSpPr/>
          <p:nvPr/>
        </p:nvSpPr>
        <p:spPr>
          <a:xfrm>
            <a:off x="7928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8078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Security Context</a:t>
            </a:r>
          </a:p>
          <a:p>
            <a:r>
              <a:rPr lang="en-US" sz="2800" b="1">
                <a:solidFill>
                  <a:srgbClr val="10B981"/>
                </a:solidFill>
              </a:rPr>
              <a:t>USER telecom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Non-Root Privilege Isolation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8 of 14</a:t>
            </a:r>
          </a:p>
        </p:txBody>
      </p:sp>
    </p:spTree>
  </p:cSld>
  <p:clrMapOvr>
    <a:masterClrMap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Ansible Provisioning &amp; Automated Rollbacks</a:t>
            </a:r>
          </a:p>
          <a:p>
            <a:r>
              <a:rPr lang="en-US" sz="1600">
                <a:solidFill>
                  <a:srgbClr val="94A3B8"/>
                </a:solidFill>
              </a:rPr>
              <a:t>INFRASTRUCTURE AS CODE — Idempotent Host Configuration and Zero-Downtime Application Lifecycle</a:t>
            </a:r>
          </a:p>
        </p:txBody>
      </p:sp>
      <p:sp>
        <p:nvSpPr>
          <p:cNvPr id="20" name="BulletsCard"/>
          <p:cNvSpPr/>
          <p:nvPr/>
        </p:nvSpPr>
        <p:spPr>
          <a:xfrm>
            <a:off x="600000" y="1900000"/>
            <a:ext cx="10992000" cy="42000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334155"/>
            </a:solidFill>
          </a:ln>
        </p:spPr>
      </p:sp>
      <p:sp>
        <p:nvSpPr>
          <p:cNvPr id="21" name="BulletsContent"/>
          <p:cNvSpPr/>
          <p:nvPr/>
        </p:nvSpPr>
        <p:spPr>
          <a:xfrm>
            <a:off x="900000" y="2100000"/>
            <a:ext cx="10392000" cy="3800000"/>
          </a:xfrm>
          <a:prstGeom prst="rect">
            <a:avLst/>
          </a:prstGeom>
          <a:noFill/>
        </p:spPr>
        <p:txBody>
          <a:bodyPr/>
          <a:lstStyle/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Modular Ansible Role: Separation of concerns using `roles/telecom_app/` with dedicated `tasks/`, `handlers/`, `defaults/`, and `templates/`.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Strict Idempotency: Re-running `ansible-playbook ansible/playbook.yml` detects unchanged configuration and results in `changed=0, failed=0`.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Post-Deploy Health Check: Utilizes Ansible `uri` module to poll `http://localhost:8085/api/health` before confirming deployment success.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Instant Rollback Playbook: Automated `ansible/rollback.yml` restores the previous stable release artifact within 10 seconds if health checks fail.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9 of 14</a:t>
            </a:r>
          </a:p>
        </p:txBody>
      </p:sp>
    </p:spTree>
  </p:cSld>
  <p:clrMapOvr>
    <a:masterClrMap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Site Reliability Engineering (SRE) Impact</a:t>
            </a:r>
          </a:p>
          <a:p>
            <a:r>
              <a:rPr lang="en-US" sz="1600">
                <a:solidFill>
                  <a:srgbClr val="94A3B8"/>
                </a:solidFill>
              </a:rPr>
              <a:t>SRE &amp; OBSERVABILITY — Quantifiable Improvements in Deployment Velocity and System Reliability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Mean Time to Recovery (MTTR)</a:t>
            </a:r>
          </a:p>
          <a:p>
            <a:r>
              <a:rPr lang="en-US" sz="2800" b="1">
                <a:solidFill>
                  <a:srgbClr val="10B981"/>
                </a:solidFill>
              </a:rPr>
              <a:t>-68% Improvement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Before: 45 - 60 mins (Manual triage)
After: 14 mins (Automated telemetry)</a:t>
            </a:r>
          </a:p>
        </p:txBody>
      </p:sp>
      <p:sp>
        <p:nvSpPr>
          <p:cNvPr id="12" name="CardBg1"/>
          <p:cNvSpPr/>
          <p:nvPr/>
        </p:nvSpPr>
        <p:spPr>
          <a:xfrm>
            <a:off x="4264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4414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Deployment Frequency</a:t>
            </a:r>
          </a:p>
          <a:p>
            <a:r>
              <a:rPr lang="en-US" sz="2800" b="1">
                <a:solidFill>
                  <a:srgbClr val="10B981"/>
                </a:solidFill>
              </a:rPr>
              <a:t>10x Velocity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Before: Bi-weekly manual deployment
After: Multiple daily CI/CD pushes</a:t>
            </a:r>
          </a:p>
        </p:txBody>
      </p:sp>
      <p:sp>
        <p:nvSpPr>
          <p:cNvPr id="14" name="CardBg2"/>
          <p:cNvSpPr/>
          <p:nvPr/>
        </p:nvSpPr>
        <p:spPr>
          <a:xfrm>
            <a:off x="7928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8078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Change Failure Rate (CFR)</a:t>
            </a:r>
          </a:p>
          <a:p>
            <a:r>
              <a:rPr lang="en-US" sz="2800" b="1">
                <a:solidFill>
                  <a:srgbClr val="10B981"/>
                </a:solidFill>
              </a:rPr>
              <a:t>-90% Failure Reduction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Before: 18% - 25% configuration drift
After: &lt; 2% with automated test gates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10 of 14</a:t>
            </a:r>
          </a:p>
        </p:txBody>
      </p:sp>
    </p:spTree>
  </p:cSld>
  <p:clrMapOvr>
    <a:masterClrMap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Shift-Left Security &amp; Operational Hardening</a:t>
            </a:r>
          </a:p>
          <a:p>
            <a:r>
              <a:rPr lang="en-US" sz="1600">
                <a:solidFill>
                  <a:srgbClr val="94A3B8"/>
                </a:solidFill>
              </a:rPr>
              <a:t>DEVSECOPS &amp; HARDENING — Embedding Security Gates Throughout the Continuous Delivery Lifecycle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Dependency Vulnerability Scans</a:t>
            </a:r>
          </a:p>
          <a:p>
            <a:r>
              <a:rPr lang="en-US" sz="2800" b="1">
                <a:solidFill>
                  <a:srgbClr val="10B981"/>
                </a:solidFill>
              </a:rPr>
              <a:t>Zero CVEs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[BUILD-TIME SECURITY]
Automated OWASP Dependency-Check integrated into CI prevents vulnerable libraries from entering artifact storage.</a:t>
            </a:r>
          </a:p>
        </p:txBody>
      </p:sp>
      <p:sp>
        <p:nvSpPr>
          <p:cNvPr id="12" name="CardBg1"/>
          <p:cNvSpPr/>
          <p:nvPr/>
        </p:nvSpPr>
        <p:spPr>
          <a:xfrm>
            <a:off x="4264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4414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Non-Root Least Privilege</a:t>
            </a:r>
          </a:p>
          <a:p>
            <a:r>
              <a:rPr lang="en-US" sz="2800" b="1">
                <a:solidFill>
                  <a:srgbClr val="10B981"/>
                </a:solidFill>
              </a:rPr>
              <a:t>UID 10001 (telecom)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[CONTAINER ISOLATION]
Dockerfile drops root permissions immediately after Alpine setup. App runs as isolated unprivileged user with read-only rootfs.</a:t>
            </a:r>
          </a:p>
        </p:txBody>
      </p:sp>
      <p:sp>
        <p:nvSpPr>
          <p:cNvPr id="14" name="CardBg2"/>
          <p:cNvSpPr/>
          <p:nvPr/>
        </p:nvSpPr>
        <p:spPr>
          <a:xfrm>
            <a:off x="7928000" y="1900000"/>
            <a:ext cx="3514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8078000" y="2050000"/>
            <a:ext cx="3214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Externalized Secrets</a:t>
            </a:r>
          </a:p>
          <a:p>
            <a:r>
              <a:rPr lang="en-US" sz="2800" b="1">
                <a:solidFill>
                  <a:srgbClr val="10B981"/>
                </a:solidFill>
              </a:rPr>
              <a:t>Zero Hardcoded Keys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[CONFIG SANITIZATION]
Database credentials, server ports, and sensitive parameters injected via environment variables and Ansible vault templates.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11 of 14</a:t>
            </a:r>
          </a:p>
        </p:txBody>
      </p:sp>
    </p:spTree>
  </p:cSld>
  <p:clrMapOvr>
    <a:masterClrMap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Examiner Demonstration Protocol</a:t>
            </a:r>
          </a:p>
          <a:p>
            <a:r>
              <a:rPr lang="en-US" sz="1600">
                <a:solidFill>
                  <a:srgbClr val="94A3B8"/>
                </a:solidFill>
              </a:rPr>
              <a:t>VIVA DEMONSTRATION WORKFLOW — Structured 5-Minute Live Viva Walkthrough Demonstrating All DevOps Concepts</a:t>
            </a:r>
          </a:p>
        </p:txBody>
      </p:sp>
      <p:sp>
        <p:nvSpPr>
          <p:cNvPr id="20" name="BulletsCard"/>
          <p:cNvSpPr/>
          <p:nvPr/>
        </p:nvSpPr>
        <p:spPr>
          <a:xfrm>
            <a:off x="600000" y="1900000"/>
            <a:ext cx="10992000" cy="42000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334155"/>
            </a:solidFill>
          </a:ln>
        </p:spPr>
      </p:sp>
      <p:sp>
        <p:nvSpPr>
          <p:cNvPr id="21" name="BulletsContent"/>
          <p:cNvSpPr/>
          <p:nvPr/>
        </p:nvSpPr>
        <p:spPr>
          <a:xfrm>
            <a:off x="900000" y="2100000"/>
            <a:ext cx="10392000" cy="3800000"/>
          </a:xfrm>
          <a:prstGeom prst="rect">
            <a:avLst/>
          </a:prstGeom>
          <a:noFill/>
        </p:spPr>
        <p:txBody>
          <a:bodyPr/>
          <a:lstStyle/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Step 1: .\start.bat or .\start.ps1 — Launches Spring Boot application on port 8085. Opens `http://localhost:8085/` in browser.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Step 2: curl http://localhost:8085/api/health — Demonstrates live JSON health probe returning `{"status":"UP"}`.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Step 3: mvn test — Executes 15 automated tests in terminal (Unit, MockMvc, and Headless Selenium Chrome).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Step 4: git log --graph --oneline --all — Showcases Git Flow branches, conventional commits, and merge conflict resolution.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Step 5: docker-compose up --build — Demonstrates multi-stage Docker build and Alpine container execution.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Step 6: ansible-playbook ansible/playbook.yml — Proves IaC idempotency (`changed=0`) and automated health verification.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12 of 14</a:t>
            </a:r>
          </a:p>
        </p:txBody>
      </p:sp>
    </p:spTree>
  </p:cSld>
  <p:clrMapOvr>
    <a:masterClrMap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Complete Academic &amp; Technical Artifacts</a:t>
            </a:r>
          </a:p>
          <a:p>
            <a:r>
              <a:rPr lang="en-US" sz="1600">
                <a:solidFill>
                  <a:srgbClr val="94A3B8"/>
                </a:solidFill>
              </a:rPr>
              <a:t>SUBMISSION DELIVERABLES — Comprehensive Documentation, Codebase, and Presentation Suite</a:t>
            </a:r>
          </a:p>
        </p:txBody>
      </p:sp>
      <p:sp>
        <p:nvSpPr>
          <p:cNvPr id="10" name="CardBg0"/>
          <p:cNvSpPr/>
          <p:nvPr/>
        </p:nvSpPr>
        <p:spPr>
          <a:xfrm>
            <a:off x="600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1" name="CardTxt0"/>
          <p:cNvSpPr/>
          <p:nvPr/>
        </p:nvSpPr>
        <p:spPr>
          <a:xfrm>
            <a:off x="750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16-Page Academic Report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Formal IEEE/University project report with Certificate of Approval, Candidate Declaration, 6 technical chapters, and full test results.</a:t>
            </a:r>
          </a:p>
        </p:txBody>
      </p:sp>
      <p:sp>
        <p:nvSpPr>
          <p:cNvPr id="12" name="CardBg1"/>
          <p:cNvSpPr/>
          <p:nvPr/>
        </p:nvSpPr>
        <p:spPr>
          <a:xfrm>
            <a:off x="3348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3" name="CardTxt1"/>
          <p:cNvSpPr/>
          <p:nvPr/>
        </p:nvSpPr>
        <p:spPr>
          <a:xfrm>
            <a:off x="3498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Conference Poster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Creative, high-impact academic poster compiled in vector PDF and high-res PNG for physical or digital presentation.</a:t>
            </a:r>
          </a:p>
        </p:txBody>
      </p:sp>
      <p:sp>
        <p:nvSpPr>
          <p:cNvPr id="14" name="CardBg2"/>
          <p:cNvSpPr/>
          <p:nvPr/>
        </p:nvSpPr>
        <p:spPr>
          <a:xfrm>
            <a:off x="6096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5" name="CardTxt2"/>
          <p:cNvSpPr/>
          <p:nvPr/>
        </p:nvSpPr>
        <p:spPr>
          <a:xfrm>
            <a:off x="6246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16:9 Presentation Deck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14-slide presentation delivered in native PowerPoint (.pptx), vector PDF (.pdf), and interactive HTML5 (.html).</a:t>
            </a:r>
          </a:p>
        </p:txBody>
      </p:sp>
      <p:sp>
        <p:nvSpPr>
          <p:cNvPr id="16" name="CardBg3"/>
          <p:cNvSpPr/>
          <p:nvPr/>
        </p:nvSpPr>
        <p:spPr>
          <a:xfrm>
            <a:off x="8844000" y="1900000"/>
            <a:ext cx="2598000" cy="42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17" name="CardTxt3"/>
          <p:cNvSpPr/>
          <p:nvPr/>
        </p:nvSpPr>
        <p:spPr>
          <a:xfrm>
            <a:off x="8994000" y="2050000"/>
            <a:ext cx="2298000" cy="3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</a:rPr>
              <a:t>19-Page Viva Guide</a:t>
            </a:r>
          </a:p>
          <a:p>
            <a:r>
              <a:rPr lang="en-US" sz="2800" b="1">
                <a:solidFill>
                  <a:srgbClr val="10B981"/>
                </a:solidFill>
              </a:rPr>
              <a:t>FEATURE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</a:rPr>
              <a:t>Comprehensive quick-reference guide covering all 14 curriculum tasks, examiner Q&amp;A, and terminal commands.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13 of 14</a:t>
            </a:r>
          </a:p>
        </p:txBody>
      </p:sp>
    </p:spTree>
  </p:cSld>
  <p:clrMapOvr>
    <a:masterClrMap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p:xfrm>
          <a:off x="0" y="0"/>
          <a:ext cx="0" cy="0"/>
          <a:chOff x="0" y="0"/>
          <a:chExt cx="0" cy="0"/>
        </p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AccentLine"/>
          <p:cNvSpPr/>
          <p:nvPr/>
        </p:nvSpPr>
        <p:spPr>
          <a:xfrm>
            <a:off x="600000" y="400000"/>
            <a:ext cx="10992000" cy="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Box"/>
          <p:cNvSpPr/>
          <p:nvPr/>
        </p:nvSpPr>
        <p:spPr>
          <a:xfrm>
            <a:off x="600000" y="550000"/>
            <a:ext cx="10992000" cy="11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8FAFC"/>
                </a:solidFill>
              </a:rPr>
              <a:t>Conclusion, Production Roadmap &amp; Viva Q&amp;A</a:t>
            </a:r>
          </a:p>
          <a:p>
            <a:r>
              <a:rPr lang="en-US" sz="1600">
                <a:solidFill>
                  <a:srgbClr val="94A3B8"/>
                </a:solidFill>
              </a:rPr>
              <a:t>CONCLUSION &amp; FUTURE HORIZONS — Bridging Academic Excellence with Production-Grade DevOps Engineering</a:t>
            </a:r>
          </a:p>
        </p:txBody>
      </p:sp>
      <p:sp>
        <p:nvSpPr>
          <p:cNvPr id="20" name="BulletsCard"/>
          <p:cNvSpPr/>
          <p:nvPr/>
        </p:nvSpPr>
        <p:spPr>
          <a:xfrm>
            <a:off x="600000" y="1900000"/>
            <a:ext cx="10992000" cy="42000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334155"/>
            </a:solidFill>
          </a:ln>
        </p:spPr>
      </p:sp>
      <p:sp>
        <p:nvSpPr>
          <p:cNvPr id="21" name="BulletsContent"/>
          <p:cNvSpPr/>
          <p:nvPr/>
        </p:nvSpPr>
        <p:spPr>
          <a:xfrm>
            <a:off x="900000" y="2100000"/>
            <a:ext cx="10392000" cy="3800000"/>
          </a:xfrm>
          <a:prstGeom prst="rect">
            <a:avLst/>
          </a:prstGeom>
          <a:noFill/>
        </p:spPr>
        <p:txBody>
          <a:bodyPr/>
          <a:lstStyle/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Summary: Successfully engineered and demonstrated a resilient, cloud-native Telecom Service Outage Dashboard adhering to modern DevOps paradigms. Integrated multi-stage CI/CD pipelines, automated testing pyramids, Docker containerization, and idempotent Ansible orchestration to achieve high availability and rapid incident response.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Kubernetes &amp; Helm: Pod autoscaling &amp; rolling microservice deployments.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Prometheus &amp; Grafana: Time-series telemetry &amp; automated alerting.</a:t>
            </a:r>
          </a:p>
          <a:p>
            <a:pPr marL="288000" indent="-288000">
              <a:buFont typeface="Arial"/>
              <a:buChar char="▪"/>
            </a:pPr>
            <a:r>
              <a:rPr lang="en-US" sz="1600">
                <a:solidFill>
                  <a:srgbClr val="E2E8F0"/>
                </a:solidFill>
              </a:rPr>
              <a:t>Candidate: Manas Akhare (Roll No: 23102C0017) — Viva Q&amp;A Invited.</a:t>
            </a:r>
          </a:p>
        </p:txBody>
      </p:sp>
      <p:sp>
        <p:nvSpPr>
          <p:cNvPr id="30" name="Footer"/>
          <p:cNvSpPr/>
          <p:nvPr/>
        </p:nvSpPr>
        <p:spPr>
          <a:xfrm>
            <a:off x="600000" y="6300000"/>
            <a:ext cx="10992000" cy="3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4748B"/>
                </a:solidFill>
              </a:rPr>
              <a:t>Candidate: Manas Akhare (Roll: 23102C0017) | BE - VII (Div C, Sr. 12) | Ansible Telecom Outage Dashboard | Slide 14 of 14</a:t>
            </a:r>
          </a:p>
        </p:txBody>
      </p:sp>
    </p:spTree>
  </p:cSld>
  <p:clrMapOvr>
    <a:masterClrMap/>
  </p:clrMapOvr>
</p:sld>
</file>

<file path=ppt/theme/theme1.xml><?xml version="1.0" encoding="utf-8"?>
<a:theme xmlns:a="http://schemas.openxmlformats.org/drawingml/2006/main" name="DevOps Theme">
  <a:themeElements>
    <a:clrScheme name="DevOps">
      <a:dk1>
        <a:sysClr val="windowText" lastClr="0F172A"/>
      </a:dk1>
      <a:lt1>
        <a:sysClr val="window" lastClr="FFFFFF"/>
      </a:lt1>
      <a:dk2>
        <a:srgbClr val="1E293B"/>
      </a:dk2>
      <a:lt2>
        <a:srgbClr val="F8FAFC"/>
      </a:lt2>
      <a:accent1>
        <a:srgbClr val="2563EB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3B82F6"/>
      </a:hlink>
      <a:folHlink>
        <a:srgbClr val="6366F1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